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Sans" panose="020B0503050203000203" pitchFamily="34" charset="0"/>
      <p:regular r:id="rId13"/>
    </p:embeddedFont>
    <p:embeddedFont>
      <p:font typeface="IBM Plex Sans Bold" panose="020B0803050203000203" charset="0"/>
      <p:regular r:id="rId14"/>
    </p:embeddedFont>
    <p:embeddedFont>
      <p:font typeface="Outfit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1" d="100"/>
          <a:sy n="91" d="100"/>
        </p:scale>
        <p:origin x="34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840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13" Type="http://schemas.openxmlformats.org/officeDocument/2006/relationships/image" Target="../media/image1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svg"/><Relationship Id="rId13" Type="http://schemas.openxmlformats.org/officeDocument/2006/relationships/image" Target="../media/image40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12" Type="http://schemas.openxmlformats.org/officeDocument/2006/relationships/image" Target="../media/image39.svg"/><Relationship Id="rId17" Type="http://schemas.openxmlformats.org/officeDocument/2006/relationships/image" Target="../media/image44.jpe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43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sv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svg"/><Relationship Id="rId4" Type="http://schemas.openxmlformats.org/officeDocument/2006/relationships/image" Target="../media/image31.svg"/><Relationship Id="rId9" Type="http://schemas.openxmlformats.org/officeDocument/2006/relationships/image" Target="../media/image36.png"/><Relationship Id="rId14" Type="http://schemas.openxmlformats.org/officeDocument/2006/relationships/image" Target="../media/image41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1048047"/>
            <a:ext cx="2341784" cy="495527"/>
          </a:xfrm>
          <a:prstGeom prst="roundRect">
            <a:avLst>
              <a:gd name="adj" fmla="val 47401"/>
            </a:avLst>
          </a:prstGeom>
          <a:solidFill>
            <a:srgbClr val="CFDBFC"/>
          </a:solidFill>
          <a:ln/>
          <a:effectLst>
            <a:reflection blurRad="6350" stA="50000" endA="300" endPos="55000" dir="5400000" sy="-100000" algn="bl" rotWithShape="0"/>
          </a:effectLst>
        </p:spPr>
      </p:sp>
      <p:sp>
        <p:nvSpPr>
          <p:cNvPr id="4" name="Text 1"/>
          <p:cNvSpPr/>
          <p:nvPr/>
        </p:nvSpPr>
        <p:spPr>
          <a:xfrm>
            <a:off x="1009572" y="1199938"/>
            <a:ext cx="2120053" cy="2333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b="1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</a:rPr>
              <a:t>TEAM : Cohabitants</a:t>
            </a:r>
            <a:endParaRPr lang="en-US" sz="1400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42822" y="1755293"/>
            <a:ext cx="6296860" cy="5611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800" dirty="0">
                <a:solidFill>
                  <a:schemeClr val="tx2">
                    <a:lumMod val="50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JanVastu</a:t>
            </a:r>
            <a:endParaRPr lang="en-US" sz="48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661475" y="2801852"/>
            <a:ext cx="6296860" cy="1048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chemeClr val="accent1">
                    <a:lumMod val="7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From citizen voice → smarter infrastructure → public accountability</a:t>
            </a:r>
            <a:endParaRPr lang="en-US" sz="28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642822" y="3880580"/>
            <a:ext cx="6296860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multilingual, AI-powered platform making citizen demand visible, comparable, and actionable for India's infrastructure planning</a:t>
            </a:r>
            <a:r>
              <a:rPr lang="en-US" sz="14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85239" y="4753839"/>
            <a:ext cx="1083541" cy="272752"/>
          </a:xfrm>
          <a:prstGeom prst="roundRect">
            <a:avLst>
              <a:gd name="adj" fmla="val 47401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A2B9F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86" y="4835759"/>
            <a:ext cx="1477826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VOICE-FIRST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43996" y="4781982"/>
            <a:ext cx="1454610" cy="272752"/>
          </a:xfrm>
          <a:prstGeom prst="roundRect">
            <a:avLst>
              <a:gd name="adj" fmla="val 47401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A2B9F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956300" y="4848575"/>
            <a:ext cx="1848895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OFFLINE-CAPABLE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Shape 9"/>
          <p:cNvSpPr/>
          <p:nvPr/>
        </p:nvSpPr>
        <p:spPr>
          <a:xfrm>
            <a:off x="3486658" y="4810805"/>
            <a:ext cx="1141086" cy="272752"/>
          </a:xfrm>
          <a:prstGeom prst="roundRect">
            <a:avLst>
              <a:gd name="adj" fmla="val 47401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A2B9F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64770" y="4886345"/>
            <a:ext cx="1535372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EXPLAINABLE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4" name="Shape 11"/>
          <p:cNvSpPr/>
          <p:nvPr/>
        </p:nvSpPr>
        <p:spPr>
          <a:xfrm>
            <a:off x="4815796" y="4810805"/>
            <a:ext cx="1004069" cy="272752"/>
          </a:xfrm>
          <a:prstGeom prst="roundRect">
            <a:avLst>
              <a:gd name="adj" fmla="val 47401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A2B9F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77278" y="4890557"/>
            <a:ext cx="1398354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SOVEREIGN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084772" y="4803530"/>
            <a:ext cx="1239112" cy="272752"/>
          </a:xfrm>
          <a:prstGeom prst="roundRect">
            <a:avLst>
              <a:gd name="adj" fmla="val 47401"/>
            </a:avLst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rgbClr val="A2B9F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220407" y="4879284"/>
            <a:ext cx="163339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chemeClr val="accent1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DPDP-ALIGNED</a:t>
            </a:r>
            <a:endParaRPr lang="en-US" sz="11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4" y="599479"/>
            <a:ext cx="1427385" cy="352003"/>
          </a:xfrm>
          <a:prstGeom prst="roundRect">
            <a:avLst>
              <a:gd name="adj" fmla="val 47368"/>
            </a:avLst>
          </a:prstGeom>
          <a:solidFill>
            <a:srgbClr val="CFDBFC"/>
          </a:solidFill>
          <a:ln/>
          <a:effectLst>
            <a:reflection blurRad="6350" stA="50000" endA="300" endPos="55000" dir="5400000" sy="-100000" algn="bl" rotWithShape="0"/>
          </a:effectLst>
        </p:spPr>
      </p:sp>
      <p:sp>
        <p:nvSpPr>
          <p:cNvPr id="4" name="Text 1"/>
          <p:cNvSpPr/>
          <p:nvPr/>
        </p:nvSpPr>
        <p:spPr>
          <a:xfrm>
            <a:off x="886562" y="677563"/>
            <a:ext cx="1296261" cy="121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GAP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Text 2"/>
          <p:cNvSpPr/>
          <p:nvPr/>
        </p:nvSpPr>
        <p:spPr>
          <a:xfrm>
            <a:off x="661475" y="1099776"/>
            <a:ext cx="6296860" cy="842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India hears citizens BUT Infrastructure planning still struggles to hear them together.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661475" y="2216845"/>
            <a:ext cx="6296860" cy="899418"/>
          </a:xfrm>
          <a:prstGeom prst="roundRect">
            <a:avLst>
              <a:gd name="adj" fmla="val 13240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00080" y="2355453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Fragmented Demand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00080" y="2617688"/>
            <a:ext cx="6019649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Requests sit across MPLADS, e-District, CPGRAMS, PWD, and CSC  never spatialised against infrastructure supply.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61475" y="3208834"/>
            <a:ext cx="6296860" cy="719435"/>
          </a:xfrm>
          <a:prstGeom prst="roundRect">
            <a:avLst>
              <a:gd name="adj" fmla="val 16552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800080" y="3347442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Top-Down Prioritisation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00080" y="3609677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demand is not systematically mapped to existing infrastructure gaps.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61475" y="4020840"/>
            <a:ext cx="6296860" cy="719435"/>
          </a:xfrm>
          <a:prstGeom prst="roundRect">
            <a:avLst>
              <a:gd name="adj" fmla="val 16552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800080" y="4159448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Accountability Gap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00080" y="4421684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Citizens cannot see contractor, cost, timeline, or whether an asset functions.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61475" y="4832846"/>
            <a:ext cx="6296860" cy="729121"/>
          </a:xfrm>
          <a:prstGeom prst="roundRect">
            <a:avLst>
              <a:gd name="adj" fmla="val 16552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00080" y="4971455"/>
            <a:ext cx="6019649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Digital Exclusion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00080" y="5233690"/>
            <a:ext cx="6019649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Text-first systems exclude low-literacy and non-smartphone populations.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1474" y="5841058"/>
            <a:ext cx="6296860" cy="601960"/>
          </a:xfrm>
          <a:prstGeom prst="roundRect">
            <a:avLst>
              <a:gd name="adj" fmla="val 19782"/>
            </a:avLst>
          </a:prstGeom>
          <a:solidFill>
            <a:schemeClr val="tx2">
              <a:lumMod val="40000"/>
              <a:lumOff val="60000"/>
            </a:schemeClr>
          </a:solidFill>
          <a:ln/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631" y="6031668"/>
            <a:ext cx="165294" cy="1322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091280" y="5962055"/>
            <a:ext cx="5734800" cy="359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9,000+ NIP projects · ₹160+ trillion</a:t>
            </a: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</a:p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opportunity: make demand visible, comparable, and actionable.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80541"/>
            <a:ext cx="1712609" cy="376564"/>
          </a:xfrm>
          <a:prstGeom prst="roundRect">
            <a:avLst>
              <a:gd name="adj" fmla="val 47414"/>
            </a:avLst>
          </a:prstGeom>
          <a:solidFill>
            <a:srgbClr val="CFDBFC"/>
          </a:solidFill>
          <a:ln/>
          <a:effectLst>
            <a:reflection blurRad="6350" stA="52000" endA="300" endPos="3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922513" y="781149"/>
            <a:ext cx="1813574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SOLUTION</a:t>
            </a:r>
            <a:endParaRPr lang="en-US" sz="14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138961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104000"/>
              </a:lnSpc>
              <a:buNone/>
            </a:pPr>
            <a:r>
              <a:rPr lang="en-US" sz="30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JanVastu turns scattered citizen signals into an accountable planning loop.</a:t>
            </a:r>
            <a:endParaRPr lang="en-US" sz="3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87972"/>
            <a:ext cx="3622882" cy="642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106" y="296713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Collect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822106" y="3300016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Voice, Text, app, volunteer, CSC</a:t>
            </a:r>
            <a:endParaRPr lang="en-US" sz="12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4357" y="2187972"/>
            <a:ext cx="3622882" cy="6426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44988" y="296713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Understand</a:t>
            </a:r>
            <a:endParaRPr lang="en-US" sz="1550" dirty="0"/>
          </a:p>
        </p:txBody>
      </p:sp>
      <p:sp>
        <p:nvSpPr>
          <p:cNvPr id="10" name="Text 6"/>
          <p:cNvSpPr/>
          <p:nvPr/>
        </p:nvSpPr>
        <p:spPr>
          <a:xfrm>
            <a:off x="4444988" y="3300016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Multi- language AI, intent, entities, image/video</a:t>
            </a:r>
            <a:endParaRPr lang="en-US" sz="12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7239" y="2187972"/>
            <a:ext cx="3622882" cy="6426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7870" y="2967137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Locate</a:t>
            </a:r>
            <a:endParaRPr lang="en-US" sz="1550" dirty="0"/>
          </a:p>
        </p:txBody>
      </p:sp>
      <p:sp>
        <p:nvSpPr>
          <p:cNvPr id="13" name="Text 8"/>
          <p:cNvSpPr/>
          <p:nvPr/>
        </p:nvSpPr>
        <p:spPr>
          <a:xfrm>
            <a:off x="8067870" y="3300016"/>
            <a:ext cx="330162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Geo-code demand, connect to assets</a:t>
            </a:r>
            <a:endParaRPr lang="en-US" sz="125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698379"/>
            <a:ext cx="3622882" cy="6426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22106" y="4477544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Prioritise</a:t>
            </a:r>
            <a:endParaRPr lang="en-US" sz="1550" dirty="0"/>
          </a:p>
        </p:txBody>
      </p:sp>
      <p:sp>
        <p:nvSpPr>
          <p:cNvPr id="16" name="Text 10"/>
          <p:cNvSpPr/>
          <p:nvPr/>
        </p:nvSpPr>
        <p:spPr>
          <a:xfrm>
            <a:off x="822106" y="4810423"/>
            <a:ext cx="33016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Demand-Supply Gap Ratio + explainable recommendations</a:t>
            </a:r>
            <a:endParaRPr lang="en-US" sz="125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4357" y="3698379"/>
            <a:ext cx="3622882" cy="6426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444988" y="4477544"/>
            <a:ext cx="330162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Account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444988" y="4810423"/>
            <a:ext cx="330162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Contractor, cost, timeline, officials, outcome trail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61475" y="5600105"/>
            <a:ext cx="10868745" cy="577255"/>
          </a:xfrm>
          <a:prstGeom prst="roundRect">
            <a:avLst>
              <a:gd name="adj" fmla="val 25049"/>
            </a:avLst>
          </a:prstGeom>
          <a:solidFill>
            <a:srgbClr val="CFDBFC"/>
          </a:solidFill>
          <a:ln/>
        </p:spPr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106" y="5794871"/>
            <a:ext cx="200814" cy="160635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183551" y="5776714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The Core Shift:</a:t>
            </a: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From "collect complaints" → </a:t>
            </a: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map unmet need → guide investment → prove outcomes.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20527"/>
            <a:ext cx="2341784" cy="428765"/>
          </a:xfrm>
          <a:prstGeom prst="roundRect">
            <a:avLst>
              <a:gd name="adj" fmla="val 47396"/>
            </a:avLst>
          </a:prstGeom>
          <a:solidFill>
            <a:srgbClr val="CFDBFC"/>
          </a:solidFill>
          <a:ln/>
          <a:effectLst>
            <a:reflection blurRad="6350" stA="52000" endA="300" endPos="3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822900" y="843205"/>
            <a:ext cx="254817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INCLUSIVE BY DESIGN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310036"/>
            <a:ext cx="10868745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 citizen should not need a smartphone, English, or typing skills to be heard.</a:t>
            </a:r>
            <a:endParaRPr lang="en-US" sz="32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548037"/>
            <a:ext cx="2009923" cy="124221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1475" y="40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Ramesh ( Rural / Low Literacy)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61475" y="4435177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IVR in local language. Volunteer photo capture. Offline household collection with GPS-verified sync.</a:t>
            </a:r>
            <a:endParaRPr lang="en-US" sz="1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3135" y="2548037"/>
            <a:ext cx="2009923" cy="124221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363135" y="4026495"/>
            <a:ext cx="3465426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Priya ( Collector / Decision Maker)</a:t>
            </a:r>
            <a:endParaRPr lang="en-US" sz="1850" dirty="0"/>
          </a:p>
        </p:txBody>
      </p:sp>
      <p:sp>
        <p:nvSpPr>
          <p:cNvPr id="10" name="Text 6"/>
          <p:cNvSpPr/>
          <p:nvPr/>
        </p:nvSpPr>
        <p:spPr>
          <a:xfrm>
            <a:off x="4363135" y="4730452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WhatsApp + geo-tagged photo. Public project details. Hotspots and Gap Ratios with explainable recommendations.</a:t>
            </a:r>
            <a:endParaRPr lang="en-US" sz="14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794" y="2548037"/>
            <a:ext cx="2009923" cy="12422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064794" y="4026495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Anjali (Urban / Digital)</a:t>
            </a:r>
            <a:endParaRPr lang="en-US" sz="1850" dirty="0"/>
          </a:p>
        </p:txBody>
      </p:sp>
      <p:sp>
        <p:nvSpPr>
          <p:cNvPr id="13" name="Text 8"/>
          <p:cNvSpPr/>
          <p:nvPr/>
        </p:nvSpPr>
        <p:spPr>
          <a:xfrm>
            <a:off x="8064794" y="4435177"/>
            <a:ext cx="346542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App-based feedback with voice input. Real-time project tracking and outcome verification.</a:t>
            </a:r>
            <a:endParaRPr lang="en-US" sz="1450" dirty="0"/>
          </a:p>
        </p:txBody>
      </p:sp>
      <p:sp>
        <p:nvSpPr>
          <p:cNvPr id="14" name="Shape 9"/>
          <p:cNvSpPr/>
          <p:nvPr/>
        </p:nvSpPr>
        <p:spPr>
          <a:xfrm>
            <a:off x="661475" y="5850334"/>
            <a:ext cx="1307075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774879" y="5906988"/>
            <a:ext cx="1689851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LANGUAGES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6" name="Shape 11"/>
          <p:cNvSpPr/>
          <p:nvPr/>
        </p:nvSpPr>
        <p:spPr>
          <a:xfrm>
            <a:off x="2063004" y="5850334"/>
            <a:ext cx="1308067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176408" y="5922836"/>
            <a:ext cx="1690844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OFFLINE-FIRST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8" name="Shape 13"/>
          <p:cNvSpPr/>
          <p:nvPr/>
        </p:nvSpPr>
        <p:spPr>
          <a:xfrm>
            <a:off x="3465525" y="5850334"/>
            <a:ext cx="1511064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578929" y="5906988"/>
            <a:ext cx="1893840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CODE-SWITCHING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0" name="Shape 15"/>
          <p:cNvSpPr/>
          <p:nvPr/>
        </p:nvSpPr>
        <p:spPr>
          <a:xfrm>
            <a:off x="5071043" y="5850334"/>
            <a:ext cx="3482293" cy="287139"/>
          </a:xfrm>
          <a:prstGeom prst="roundRect">
            <a:avLst>
              <a:gd name="adj" fmla="val 47396"/>
            </a:avLst>
          </a:prstGeom>
          <a:noFill/>
          <a:ln w="6350">
            <a:solidFill>
              <a:schemeClr val="accent6">
                <a:lumMod val="50000"/>
              </a:scheme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184447" y="5906988"/>
            <a:ext cx="3865069" cy="1738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chemeClr val="accent1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HUMAN FALLBACK FOR LOW-CONFIDENCE ASR</a:t>
            </a:r>
            <a:endParaRPr lang="en-US" sz="1150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981" y="595846"/>
            <a:ext cx="1762943" cy="349683"/>
          </a:xfrm>
          <a:prstGeom prst="roundRect">
            <a:avLst>
              <a:gd name="adj" fmla="val 47407"/>
            </a:avLst>
          </a:prstGeom>
          <a:solidFill>
            <a:srgbClr val="CFDBFC"/>
          </a:solidFill>
          <a:ln/>
          <a:effectLst>
            <a:reflection blurRad="6350" stA="52000" endA="300" endPos="3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1056896" y="658755"/>
            <a:ext cx="1449252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 ENGINE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627" y="1114697"/>
            <a:ext cx="10868745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Multilingual AI converts raw citizen media into structured planning signals.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0950" y="2171178"/>
            <a:ext cx="2590830" cy="10593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98403" y="2288580"/>
            <a:ext cx="2179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i="1" dirty="0">
                <a:solidFill>
                  <a:schemeClr val="bg2">
                    <a:lumMod val="2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Speech</a:t>
            </a:r>
            <a:endParaRPr lang="en-US" sz="135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7" name="Text 4"/>
          <p:cNvSpPr/>
          <p:nvPr/>
        </p:nvSpPr>
        <p:spPr>
          <a:xfrm>
            <a:off x="932637" y="2586382"/>
            <a:ext cx="21798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ASR + language ID — IndicConformer / Vak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25941" y="2202292"/>
            <a:ext cx="2590929" cy="10593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Text 5"/>
          <p:cNvSpPr/>
          <p:nvPr/>
        </p:nvSpPr>
        <p:spPr>
          <a:xfrm>
            <a:off x="3523467" y="2328363"/>
            <a:ext cx="2179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i="1" dirty="0">
                <a:solidFill>
                  <a:schemeClr val="bg2">
                    <a:lumMod val="2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Meaning</a:t>
            </a:r>
            <a:endParaRPr lang="en-US" sz="135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3523467" y="2651931"/>
            <a:ext cx="217998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Intent + NER — IndicBERT / MuRIL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5981" y="3379438"/>
            <a:ext cx="2590830" cy="10593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Text 7"/>
          <p:cNvSpPr/>
          <p:nvPr/>
        </p:nvSpPr>
        <p:spPr>
          <a:xfrm>
            <a:off x="898401" y="3532819"/>
            <a:ext cx="2179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i="1" dirty="0">
                <a:solidFill>
                  <a:schemeClr val="bg2">
                    <a:lumMod val="2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Vision</a:t>
            </a:r>
            <a:endParaRPr lang="en-US" sz="135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898403" y="3855416"/>
            <a:ext cx="2179881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Defect + severity — YOLOv8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0706" y="3399730"/>
            <a:ext cx="2590929" cy="10593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Text 9"/>
          <p:cNvSpPr/>
          <p:nvPr/>
        </p:nvSpPr>
        <p:spPr>
          <a:xfrm>
            <a:off x="3582203" y="3550489"/>
            <a:ext cx="217998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i="1" dirty="0">
                <a:solidFill>
                  <a:schemeClr val="bg2">
                    <a:lumMod val="2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Location</a:t>
            </a:r>
            <a:endParaRPr lang="en-US" sz="135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" name="Text 10"/>
          <p:cNvSpPr/>
          <p:nvPr/>
        </p:nvSpPr>
        <p:spPr>
          <a:xfrm>
            <a:off x="3582203" y="3855416"/>
            <a:ext cx="217998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Reverse geocoding — OSM + Bhuvan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9276" y="4686822"/>
            <a:ext cx="2590830" cy="1059354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8" name="Text 11"/>
          <p:cNvSpPr/>
          <p:nvPr/>
        </p:nvSpPr>
        <p:spPr>
          <a:xfrm>
            <a:off x="866949" y="4844614"/>
            <a:ext cx="217988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b="1" i="1" dirty="0">
                <a:solidFill>
                  <a:schemeClr val="bg2">
                    <a:lumMod val="2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Quality</a:t>
            </a:r>
            <a:endParaRPr lang="en-US" sz="1350" b="1" i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9" name="Text 12"/>
          <p:cNvSpPr/>
          <p:nvPr/>
        </p:nvSpPr>
        <p:spPr>
          <a:xfrm>
            <a:off x="898402" y="5149578"/>
            <a:ext cx="2179881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Dedup + anomaly — GPS plausibility checks</a:t>
            </a:r>
            <a:endParaRPr lang="en-US" sz="1200" dirty="0">
              <a:solidFill>
                <a:schemeClr val="tx2">
                  <a:lumMod val="50000"/>
                </a:schemeClr>
              </a:solidFill>
            </a:endParaRPr>
          </a:p>
        </p:txBody>
      </p:sp>
      <p:sp>
        <p:nvSpPr>
          <p:cNvPr id="20" name="Text 13"/>
          <p:cNvSpPr/>
          <p:nvPr/>
        </p:nvSpPr>
        <p:spPr>
          <a:xfrm>
            <a:off x="6320770" y="218410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i="1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Example Signal</a:t>
            </a:r>
            <a:endParaRPr lang="en-US" sz="1400" i="1" dirty="0"/>
          </a:p>
        </p:txBody>
      </p:sp>
      <p:sp>
        <p:nvSpPr>
          <p:cNvPr id="21" name="Text 14"/>
          <p:cNvSpPr/>
          <p:nvPr/>
        </p:nvSpPr>
        <p:spPr>
          <a:xfrm>
            <a:off x="6381440" y="2704901"/>
            <a:ext cx="565840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</a:t>
            </a: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Broken handpump near the school</a:t>
            </a: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"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 flipH="1">
            <a:off x="6275132" y="2630338"/>
            <a:ext cx="45719" cy="389731"/>
          </a:xfrm>
          <a:prstGeom prst="roundRect">
            <a:avLst>
              <a:gd name="adj" fmla="val 49999"/>
            </a:avLst>
          </a:prstGeom>
          <a:solidFill>
            <a:srgbClr val="A2B9F9"/>
          </a:solidFill>
          <a:ln/>
        </p:spPr>
      </p:sp>
      <p:sp>
        <p:nvSpPr>
          <p:cNvPr id="23" name="Text 16"/>
          <p:cNvSpPr/>
          <p:nvPr/>
        </p:nvSpPr>
        <p:spPr>
          <a:xfrm>
            <a:off x="6237528" y="3201292"/>
            <a:ext cx="587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chemeClr val="tx2">
                    <a:lumMod val="5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Raw voice → structured, geo-tagged, severity-ranked planning signal — in seconds</a:t>
            </a: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809506" y="5824538"/>
            <a:ext cx="24306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3523467" y="5824538"/>
            <a:ext cx="24306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32" name="Text 25"/>
          <p:cNvSpPr/>
          <p:nvPr/>
        </p:nvSpPr>
        <p:spPr>
          <a:xfrm>
            <a:off x="6237528" y="5824538"/>
            <a:ext cx="243060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  <p:sp>
        <p:nvSpPr>
          <p:cNvPr id="35" name="Text 28"/>
          <p:cNvSpPr/>
          <p:nvPr/>
        </p:nvSpPr>
        <p:spPr>
          <a:xfrm>
            <a:off x="8951490" y="5824538"/>
            <a:ext cx="243069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36">
            <a:extLst>
              <a:ext uri="{FF2B5EF4-FFF2-40B4-BE49-F238E27FC236}">
                <a16:creationId xmlns:a16="http://schemas.microsoft.com/office/drawing/2014/main" id="{DD7D175E-8E56-53EE-65D3-52F7E894C9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466" y="5847757"/>
            <a:ext cx="6615192" cy="6218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1CDAC8FD-8BDE-B386-C297-E66BB7DE8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1466" y="4934090"/>
            <a:ext cx="6615192" cy="6218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F21618A2-95D5-44B1-7E96-7E5A1CF8AB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4371" y="4080310"/>
            <a:ext cx="6529382" cy="6218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88033F20-A9A2-DED6-D971-FF4626E753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7276" y="3203459"/>
            <a:ext cx="6529382" cy="621846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58DC0330-6B29-DA6F-52C9-E8C9A06EEE6F}"/>
              </a:ext>
            </a:extLst>
          </p:cNvPr>
          <p:cNvSpPr/>
          <p:nvPr/>
        </p:nvSpPr>
        <p:spPr>
          <a:xfrm>
            <a:off x="3228295" y="2292761"/>
            <a:ext cx="6518363" cy="608576"/>
          </a:xfrm>
          <a:prstGeom prst="roundRect">
            <a:avLst/>
          </a:prstGeom>
          <a:solidFill>
            <a:schemeClr val="tx2">
              <a:lumMod val="5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Shape 0"/>
          <p:cNvSpPr/>
          <p:nvPr/>
        </p:nvSpPr>
        <p:spPr>
          <a:xfrm>
            <a:off x="661475" y="653852"/>
            <a:ext cx="1863611" cy="369605"/>
          </a:xfrm>
          <a:prstGeom prst="roundRect">
            <a:avLst>
              <a:gd name="adj" fmla="val 47407"/>
            </a:avLst>
          </a:prstGeom>
          <a:solidFill>
            <a:srgbClr val="CFDBFC"/>
          </a:solidFill>
          <a:ln/>
          <a:effectLst>
            <a:reflection blurRad="6350" stA="52000" endA="300" endPos="3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894592" y="755059"/>
            <a:ext cx="1708901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ARCHITECTURE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627" y="1097490"/>
            <a:ext cx="10868745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Federated data + sovereign deployment + explainable decision support.</a:t>
            </a:r>
            <a:endParaRPr lang="en-US" sz="275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8E3CFD7-AFCD-FF95-5B87-B2C99067A0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161" y="2135012"/>
            <a:ext cx="2048383" cy="608576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3C3B8DE-3F11-951D-D869-88C3411109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9087" y="5675425"/>
            <a:ext cx="2048383" cy="621846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643726-2E58-D840-E5A9-20497697C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705" y="4803207"/>
            <a:ext cx="2048383" cy="584679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6F15256-C80B-7CBA-BA91-2C25C9F6CF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706" y="3931695"/>
            <a:ext cx="2048383" cy="608576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9DC843E-6590-2BF6-430E-4A97887D85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8818" y="3037332"/>
            <a:ext cx="2048383" cy="608576"/>
          </a:xfrm>
          <a:prstGeom prst="rect">
            <a:avLst/>
          </a:prstGeom>
          <a:solidFill>
            <a:schemeClr val="accent1">
              <a:lumMod val="50000"/>
            </a:schemeClr>
          </a:solidFill>
          <a:effectLst>
            <a:innerShdw blurRad="63500" dist="50800" dir="8100000">
              <a:prstClr val="black">
                <a:alpha val="50000"/>
              </a:prstClr>
            </a:innerShdw>
          </a:effectLst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D00DA4AA-31F5-E655-441C-7BC7BC0B65A2}"/>
              </a:ext>
            </a:extLst>
          </p:cNvPr>
          <p:cNvSpPr txBox="1"/>
          <p:nvPr/>
        </p:nvSpPr>
        <p:spPr>
          <a:xfrm>
            <a:off x="1749043" y="2277940"/>
            <a:ext cx="1585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Outfit Medium" panose="020B0604020202020204" charset="0"/>
                <a:cs typeface="Aharoni" panose="02010803020104030203" pitchFamily="2" charset="-79"/>
              </a:rPr>
              <a:t>INPUT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FDD712-A1A3-8471-AA20-BE8DF73B6614}"/>
              </a:ext>
            </a:extLst>
          </p:cNvPr>
          <p:cNvSpPr txBox="1"/>
          <p:nvPr/>
        </p:nvSpPr>
        <p:spPr>
          <a:xfrm>
            <a:off x="1903951" y="3135054"/>
            <a:ext cx="17293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Outfit Medium" panose="020B0604020202020204" charset="0"/>
              </a:rPr>
              <a:t>AI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BA7E75-32FE-E657-0A71-98CA80870C62}"/>
              </a:ext>
            </a:extLst>
          </p:cNvPr>
          <p:cNvSpPr txBox="1"/>
          <p:nvPr/>
        </p:nvSpPr>
        <p:spPr>
          <a:xfrm>
            <a:off x="1422565" y="4060272"/>
            <a:ext cx="1708901" cy="369332"/>
          </a:xfrm>
          <a:prstGeom prst="rect">
            <a:avLst/>
          </a:prstGeom>
          <a:noFill/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Outfit Medium" panose="020B0604020202020204" charset="0"/>
              </a:rPr>
              <a:t>DATA FUSION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8892DB-0E5B-CA57-3A9A-E8684662D333}"/>
              </a:ext>
            </a:extLst>
          </p:cNvPr>
          <p:cNvSpPr txBox="1"/>
          <p:nvPr/>
        </p:nvSpPr>
        <p:spPr>
          <a:xfrm>
            <a:off x="1569711" y="4899065"/>
            <a:ext cx="17089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Outfit Medium" panose="020B0604020202020204" charset="0"/>
              </a:rPr>
              <a:t>DECISION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1C529F-1DD2-C5C5-CB67-926F6BD9E419}"/>
              </a:ext>
            </a:extLst>
          </p:cNvPr>
          <p:cNvSpPr txBox="1"/>
          <p:nvPr/>
        </p:nvSpPr>
        <p:spPr>
          <a:xfrm>
            <a:off x="1684842" y="5786929"/>
            <a:ext cx="11843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Outfit Medium" panose="020B0604020202020204" charset="0"/>
              </a:rPr>
              <a:t>OUTPUT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143E5D2-852F-084E-C40A-FC608C9B7610}"/>
              </a:ext>
            </a:extLst>
          </p:cNvPr>
          <p:cNvSpPr txBox="1"/>
          <p:nvPr/>
        </p:nvSpPr>
        <p:spPr>
          <a:xfrm>
            <a:off x="3802290" y="2435811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dirty="0">
                <a:solidFill>
                  <a:srgbClr val="F8FAFC"/>
                </a:solidFill>
                <a:latin typeface="Aptos"/>
              </a:rPr>
              <a:t>IVR • WhatsApp/SMS • React Native • Volunteer • CSC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EB9A4B-A5DE-C8CD-2024-820D97E435C0}"/>
              </a:ext>
            </a:extLst>
          </p:cNvPr>
          <p:cNvSpPr txBox="1"/>
          <p:nvPr/>
        </p:nvSpPr>
        <p:spPr>
          <a:xfrm>
            <a:off x="3885577" y="3396453"/>
            <a:ext cx="8138160" cy="30777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anchor="t">
            <a:spAutoFit/>
          </a:bodyPr>
          <a:lstStyle/>
          <a:p>
            <a:pPr defTabSz="457200"/>
            <a:r>
              <a:rPr sz="1400" dirty="0">
                <a:solidFill>
                  <a:srgbClr val="F8FAFC"/>
                </a:solidFill>
                <a:latin typeface="Aptos"/>
              </a:rPr>
              <a:t>ASR • NLU • NER • Vision • Geo • </a:t>
            </a:r>
            <a:r>
              <a:rPr sz="1400" dirty="0" err="1">
                <a:solidFill>
                  <a:srgbClr val="F8FAFC"/>
                </a:solidFill>
                <a:latin typeface="Aptos"/>
              </a:rPr>
              <a:t>Dedup</a:t>
            </a:r>
            <a:endParaRPr sz="140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C908A01-45FF-F147-C079-B803C14E9966}"/>
              </a:ext>
            </a:extLst>
          </p:cNvPr>
          <p:cNvSpPr txBox="1"/>
          <p:nvPr/>
        </p:nvSpPr>
        <p:spPr>
          <a:xfrm>
            <a:off x="3802290" y="4263217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dirty="0">
                <a:solidFill>
                  <a:srgbClr val="F8FAFC"/>
                </a:solidFill>
                <a:latin typeface="Aptos"/>
              </a:rPr>
              <a:t>PostgreSQL/</a:t>
            </a:r>
            <a:r>
              <a:rPr sz="1400" dirty="0" err="1">
                <a:solidFill>
                  <a:srgbClr val="F8FAFC"/>
                </a:solidFill>
                <a:latin typeface="Aptos"/>
              </a:rPr>
              <a:t>PostGIS</a:t>
            </a:r>
            <a:r>
              <a:rPr sz="1400" dirty="0">
                <a:solidFill>
                  <a:srgbClr val="F8FAFC"/>
                </a:solidFill>
                <a:latin typeface="Aptos"/>
              </a:rPr>
              <a:t> • Kafka • </a:t>
            </a:r>
            <a:r>
              <a:rPr sz="1400" dirty="0" err="1">
                <a:solidFill>
                  <a:srgbClr val="F8FAFC"/>
                </a:solidFill>
                <a:latin typeface="Aptos"/>
              </a:rPr>
              <a:t>Debezium</a:t>
            </a:r>
            <a:r>
              <a:rPr sz="1400" dirty="0">
                <a:solidFill>
                  <a:srgbClr val="F8FAFC"/>
                </a:solidFill>
                <a:latin typeface="Aptos"/>
              </a:rPr>
              <a:t> • Redis • </a:t>
            </a:r>
            <a:r>
              <a:rPr sz="1400" dirty="0" err="1">
                <a:solidFill>
                  <a:srgbClr val="F8FAFC"/>
                </a:solidFill>
                <a:latin typeface="Aptos"/>
              </a:rPr>
              <a:t>MinIO</a:t>
            </a:r>
            <a:endParaRPr sz="1400" dirty="0">
              <a:solidFill>
                <a:srgbClr val="F8FAFC"/>
              </a:solidFill>
              <a:latin typeface="Aptos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DC1C3AF-50C5-4B06-50B8-EFA3E1877828}"/>
              </a:ext>
            </a:extLst>
          </p:cNvPr>
          <p:cNvSpPr txBox="1"/>
          <p:nvPr/>
        </p:nvSpPr>
        <p:spPr>
          <a:xfrm>
            <a:off x="3802290" y="5131854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dirty="0">
                <a:solidFill>
                  <a:srgbClr val="F8FAFC"/>
                </a:solidFill>
                <a:latin typeface="Aptos"/>
              </a:rPr>
              <a:t>Gap Ratio • Recommender • Contractor/Agency tracking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A385F8F-80F3-631E-5BFA-FCACF8C58A4F}"/>
              </a:ext>
            </a:extLst>
          </p:cNvPr>
          <p:cNvSpPr txBox="1"/>
          <p:nvPr/>
        </p:nvSpPr>
        <p:spPr>
          <a:xfrm>
            <a:off x="3733225" y="6028245"/>
            <a:ext cx="81381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dirty="0">
                <a:solidFill>
                  <a:srgbClr val="F8FAFC"/>
                </a:solidFill>
                <a:latin typeface="Aptos"/>
              </a:rPr>
              <a:t>Policymaker dashboard • Transparency portal • Grievance integrations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C7A19177-68C7-2D2D-0BAE-A7166A7AD5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9297" y="2259339"/>
            <a:ext cx="6056851" cy="401517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B58E8D-D74D-4541-27B7-CF5C09FD3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3303" y="2326451"/>
            <a:ext cx="5376044" cy="3482639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661474" y="538857"/>
            <a:ext cx="2649967" cy="435770"/>
          </a:xfrm>
          <a:prstGeom prst="roundRect">
            <a:avLst>
              <a:gd name="adj" fmla="val 47401"/>
            </a:avLst>
          </a:prstGeom>
          <a:solidFill>
            <a:srgbClr val="CFDBFC"/>
          </a:solidFill>
          <a:ln/>
          <a:effectLst>
            <a:reflection blurRad="6350" stA="50000" endA="300" endPos="5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911738" y="682142"/>
            <a:ext cx="2649967" cy="165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DECISION INTELLIGENCE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769125" y="1112751"/>
            <a:ext cx="10868745" cy="1122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platform measures where demand and infrastructure supply diverge.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1307968" y="2738287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Demand-Supply Gap Ratio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811440" y="3366787"/>
            <a:ext cx="5215303" cy="23041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200"/>
              </a:spcAft>
              <a:buNone/>
            </a:pPr>
            <a:r>
              <a:rPr lang="en-US" sz="1400" b="1" dirty="0">
                <a:solidFill>
                  <a:schemeClr val="accent1">
                    <a:lumMod val="40000"/>
                    <a:lumOff val="60000"/>
                  </a:schemeClr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Demand Intensity ÷ (Infrastructure Stock + Planned Investment) × Vulnerability Weighting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Source architecture defines this ratio to produce explainable, spatially-grounded investment recommendations.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6976697" y="2636669"/>
            <a:ext cx="5215303" cy="2804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bg1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the Decision Layer Produces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820868" y="3294490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Demand hotspot heatmaps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1" name="Text 7"/>
          <p:cNvSpPr/>
          <p:nvPr/>
        </p:nvSpPr>
        <p:spPr>
          <a:xfrm>
            <a:off x="6820868" y="3839713"/>
            <a:ext cx="4631812" cy="5601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Priority project recommendations with explainable attribution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3" name="Text 8"/>
          <p:cNvSpPr/>
          <p:nvPr/>
        </p:nvSpPr>
        <p:spPr>
          <a:xfrm>
            <a:off x="6820868" y="4641807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Contractor and agency responsiveness views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15" name="Text 9"/>
          <p:cNvSpPr/>
          <p:nvPr/>
        </p:nvSpPr>
        <p:spPr>
          <a:xfrm>
            <a:off x="6820868" y="5163807"/>
            <a:ext cx="4631812" cy="280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ct val="13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accent1">
                    <a:lumMod val="40000"/>
                    <a:lumOff val="60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→ action → outcome ledger</a:t>
            </a:r>
            <a:endParaRPr lang="en-US" sz="1600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4" y="718443"/>
            <a:ext cx="2610231" cy="415031"/>
          </a:xfrm>
          <a:prstGeom prst="roundRect">
            <a:avLst>
              <a:gd name="adj" fmla="val 47414"/>
            </a:avLst>
          </a:prstGeom>
          <a:solidFill>
            <a:srgbClr val="CFDBFC"/>
          </a:solidFill>
          <a:ln/>
          <a:effectLst>
            <a:reflection blurRad="6350" stA="50000" endA="300" endPos="5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887737" y="840432"/>
            <a:ext cx="2383968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chemeClr val="tx2">
                    <a:lumMod val="7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ACCOUNTABILITY LAYER</a:t>
            </a:r>
            <a:endParaRPr lang="en-US" sz="14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4" y="1133474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0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 project should be traceable from public need to public outcome.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61475" y="2225873"/>
            <a:ext cx="3531901" cy="1523107"/>
          </a:xfrm>
          <a:prstGeom prst="roundRect">
            <a:avLst>
              <a:gd name="adj" fmla="val 9494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8456" y="2392859"/>
            <a:ext cx="481993" cy="48200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1009" y="2525415"/>
            <a:ext cx="216887" cy="2168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8456" y="3011388"/>
            <a:ext cx="31979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Who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28456" y="3344267"/>
            <a:ext cx="319793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Contractor / vendor and responsible officials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29897" y="2225873"/>
            <a:ext cx="3531901" cy="1523107"/>
          </a:xfrm>
          <a:prstGeom prst="roundRect">
            <a:avLst>
              <a:gd name="adj" fmla="val 9494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96878" y="2392859"/>
            <a:ext cx="481993" cy="48200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29431" y="2525415"/>
            <a:ext cx="216887" cy="2168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96878" y="3011388"/>
            <a:ext cx="31979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How Much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496878" y="3344267"/>
            <a:ext cx="319793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Sanctioned + actual cost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98319" y="2225873"/>
            <a:ext cx="3531901" cy="1523107"/>
          </a:xfrm>
          <a:prstGeom prst="roundRect">
            <a:avLst>
              <a:gd name="adj" fmla="val 9494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65300" y="2392859"/>
            <a:ext cx="481993" cy="48200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97853" y="2525415"/>
            <a:ext cx="216887" cy="2168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65300" y="3011388"/>
            <a:ext cx="319793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When</a:t>
            </a:r>
            <a:endParaRPr lang="en-US" sz="1550" dirty="0"/>
          </a:p>
        </p:txBody>
      </p:sp>
      <p:sp>
        <p:nvSpPr>
          <p:cNvPr id="19" name="Text 14"/>
          <p:cNvSpPr/>
          <p:nvPr/>
        </p:nvSpPr>
        <p:spPr>
          <a:xfrm>
            <a:off x="8165300" y="3344267"/>
            <a:ext cx="3197939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Planned + actual timeline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61475" y="3885505"/>
            <a:ext cx="5366112" cy="1523107"/>
          </a:xfrm>
          <a:prstGeom prst="roundRect">
            <a:avLst>
              <a:gd name="adj" fmla="val 9494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28456" y="4052491"/>
            <a:ext cx="481993" cy="48200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61009" y="4185047"/>
            <a:ext cx="216887" cy="2168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28456" y="4671020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Who Owns It</a:t>
            </a:r>
            <a:endParaRPr lang="en-US" sz="1550" dirty="0"/>
          </a:p>
        </p:txBody>
      </p:sp>
      <p:sp>
        <p:nvSpPr>
          <p:cNvPr id="24" name="Text 18"/>
          <p:cNvSpPr/>
          <p:nvPr/>
        </p:nvSpPr>
        <p:spPr>
          <a:xfrm>
            <a:off x="828456" y="5003899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Responsible department and agency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6164108" y="3885505"/>
            <a:ext cx="5366112" cy="1523107"/>
          </a:xfrm>
          <a:prstGeom prst="roundRect">
            <a:avLst>
              <a:gd name="adj" fmla="val 9494"/>
            </a:avLst>
          </a:prstGeom>
          <a:solidFill>
            <a:srgbClr val="CFDBFC"/>
          </a:solidFill>
          <a:ln w="6350">
            <a:solidFill>
              <a:srgbClr val="B5C1E2"/>
            </a:solidFill>
            <a:prstDash val="solid"/>
          </a:ln>
          <a:effectLst>
            <a:outerShdw blurRad="127" dist="20320" dir="2700000" algn="bl" rotWithShape="0">
              <a:srgbClr val="B5C1E2">
                <a:alpha val="10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31089" y="4052491"/>
            <a:ext cx="481993" cy="482005"/>
          </a:xfrm>
          <a:prstGeom prst="ellipse">
            <a:avLst/>
          </a:prstGeom>
          <a:solidFill>
            <a:srgbClr val="A2B9F9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63642" y="4185047"/>
            <a:ext cx="216887" cy="2168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331089" y="4671020"/>
            <a:ext cx="503215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What Happened</a:t>
            </a:r>
            <a:endParaRPr lang="en-US" sz="1550" dirty="0"/>
          </a:p>
        </p:txBody>
      </p:sp>
      <p:sp>
        <p:nvSpPr>
          <p:cNvPr id="29" name="Text 22"/>
          <p:cNvSpPr/>
          <p:nvPr/>
        </p:nvSpPr>
        <p:spPr>
          <a:xfrm>
            <a:off x="6331089" y="5003899"/>
            <a:ext cx="503215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Feedback → action → outcome trail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61475" y="5562203"/>
            <a:ext cx="10868745" cy="577255"/>
          </a:xfrm>
          <a:prstGeom prst="roundRect">
            <a:avLst>
              <a:gd name="adj" fmla="val 25049"/>
            </a:avLst>
          </a:prstGeom>
          <a:solidFill>
            <a:schemeClr val="bg2">
              <a:lumMod val="75000"/>
            </a:schemeClr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2106" y="5756970"/>
            <a:ext cx="200814" cy="16063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183551" y="5738813"/>
            <a:ext cx="10795623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BM Plex Sans Bold" pitchFamily="34" charset="0"/>
                <a:ea typeface="IBM Plex Sans Bold" pitchFamily="34" charset="-122"/>
                <a:cs typeface="IBM Plex Sans Bold" pitchFamily="34" charset="-120"/>
              </a:rPr>
              <a:t>Public Transparency Portal:</a:t>
            </a:r>
            <a:r>
              <a:rPr lang="en-US" sz="1250" dirty="0">
                <a:solidFill>
                  <a:srgbClr val="00000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Search by location → view asset/project → inspect accountability fields → track status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654248"/>
            <a:ext cx="2150314" cy="444710"/>
          </a:xfrm>
          <a:prstGeom prst="roundRect">
            <a:avLst>
              <a:gd name="adj" fmla="val 47414"/>
            </a:avLst>
          </a:prstGeom>
          <a:solidFill>
            <a:srgbClr val="CFDBFC"/>
          </a:solidFill>
          <a:ln/>
          <a:effectLst>
            <a:reflection blurRad="6350" stA="50000" endA="300" endPos="55000" dir="5400000" sy="-100000" algn="bl" rotWithShape="0"/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3" name="Text 1"/>
          <p:cNvSpPr/>
          <p:nvPr/>
        </p:nvSpPr>
        <p:spPr>
          <a:xfrm>
            <a:off x="841156" y="776238"/>
            <a:ext cx="2150314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TRUST IS A FEATURE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90662" y="1158478"/>
            <a:ext cx="10868745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Privacy, consent, explainability and auditability are built into the architecture.</a:t>
            </a:r>
            <a:endParaRPr lang="en-US" sz="31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15270"/>
            <a:ext cx="3410541" cy="193306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238716" y="2451596"/>
            <a:ext cx="240996" cy="24100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41156" y="2952849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Consent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841156" y="3340398"/>
            <a:ext cx="3036117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Local-language notice with timestamp, purpose, and language. Consent ID linked to feedback not identity.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193475" y="2315270"/>
            <a:ext cx="3410541" cy="1933060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770716" y="2451596"/>
            <a:ext cx="240996" cy="241002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373155" y="2952849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Privacy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4373155" y="3340398"/>
            <a:ext cx="303611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PII stripping at ingestion. No retention beyond consent scope.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475" y="4369792"/>
            <a:ext cx="3410541" cy="1695332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238716" y="4506119"/>
            <a:ext cx="240996" cy="241002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841156" y="5007372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Security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6" name="Text 8"/>
          <p:cNvSpPr/>
          <p:nvPr/>
        </p:nvSpPr>
        <p:spPr>
          <a:xfrm>
            <a:off x="841156" y="5394920"/>
            <a:ext cx="303611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300" dirty="0">
                <a:solidFill>
                  <a:schemeClr val="bg2">
                    <a:lumMod val="2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AES-256 at rest. TLS 1.3 in transit. RBAC access controls.</a:t>
            </a:r>
            <a:endParaRPr lang="en-US" sz="1300" dirty="0">
              <a:solidFill>
                <a:schemeClr val="bg2">
                  <a:lumMod val="25000"/>
                </a:schemeClr>
              </a:solidFill>
            </a:endParaRPr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193475" y="4369792"/>
            <a:ext cx="3410541" cy="1695332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770716" y="4506119"/>
            <a:ext cx="240996" cy="241002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4373155" y="5007372"/>
            <a:ext cx="3036117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Audit</a:t>
            </a:r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0" name="Text 10"/>
          <p:cNvSpPr/>
          <p:nvPr/>
        </p:nvSpPr>
        <p:spPr>
          <a:xfrm>
            <a:off x="4373155" y="5394920"/>
            <a:ext cx="3036117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Immutable logs. Explainable attribution. No black-box decisions affecting citizens</a:t>
            </a:r>
            <a:r>
              <a:rPr lang="en-US" sz="125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50" dirty="0"/>
          </a:p>
        </p:txBody>
      </p:sp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253404" y="2674144"/>
            <a:ext cx="3016869" cy="301694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2534"/>
            <a:ext cx="1981057" cy="358945"/>
          </a:xfrm>
          <a:prstGeom prst="roundRect">
            <a:avLst>
              <a:gd name="adj" fmla="val 47407"/>
            </a:avLst>
          </a:prstGeom>
          <a:solidFill>
            <a:srgbClr val="CFDBFC"/>
          </a:solidFill>
          <a:ln/>
          <a:effectLst>
            <a:reflection blurRad="6350" stA="50000" endA="300" endPos="55000" dir="5400000" sy="-100000" algn="bl" rotWithShape="0"/>
          </a:effectLst>
        </p:spPr>
      </p:sp>
      <p:sp>
        <p:nvSpPr>
          <p:cNvPr id="3" name="Text 1"/>
          <p:cNvSpPr/>
          <p:nvPr/>
        </p:nvSpPr>
        <p:spPr>
          <a:xfrm>
            <a:off x="916467" y="675225"/>
            <a:ext cx="1726065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BUILT TO SCALE</a:t>
            </a:r>
            <a:endParaRPr lang="en-US" sz="14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61475" y="1016690"/>
            <a:ext cx="10868745" cy="8860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The roadmap starts measurable and grows toward national coverage.</a:t>
            </a:r>
            <a:endParaRPr lang="en-US" sz="2750" dirty="0"/>
          </a:p>
        </p:txBody>
      </p:sp>
      <p:sp>
        <p:nvSpPr>
          <p:cNvPr id="5" name="Text 3"/>
          <p:cNvSpPr/>
          <p:nvPr/>
        </p:nvSpPr>
        <p:spPr>
          <a:xfrm>
            <a:off x="1332474" y="2117130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22</a:t>
            </a:r>
            <a:endParaRPr lang="en-US" sz="3650" dirty="0"/>
          </a:p>
        </p:txBody>
      </p:sp>
      <p:sp>
        <p:nvSpPr>
          <p:cNvPr id="6" name="Text 4"/>
          <p:cNvSpPr/>
          <p:nvPr/>
        </p:nvSpPr>
        <p:spPr>
          <a:xfrm>
            <a:off x="661475" y="2584946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Languages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61475" y="2870101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Indic language coverage by Year 3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92851" y="2117130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28</a:t>
            </a:r>
            <a:endParaRPr lang="en-US" sz="3650" dirty="0"/>
          </a:p>
        </p:txBody>
      </p:sp>
      <p:sp>
        <p:nvSpPr>
          <p:cNvPr id="9" name="Text 7"/>
          <p:cNvSpPr/>
          <p:nvPr/>
        </p:nvSpPr>
        <p:spPr>
          <a:xfrm>
            <a:off x="6162223" y="2584946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States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162223" y="2870101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National rollout across all states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91197" y="3470673"/>
            <a:ext cx="4025899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50M</a:t>
            </a:r>
            <a:endParaRPr lang="en-US" sz="3650" dirty="0"/>
          </a:p>
        </p:txBody>
      </p:sp>
      <p:sp>
        <p:nvSpPr>
          <p:cNvPr id="12" name="Text 10"/>
          <p:cNvSpPr/>
          <p:nvPr/>
        </p:nvSpPr>
        <p:spPr>
          <a:xfrm>
            <a:off x="661475" y="3970338"/>
            <a:ext cx="53678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Citizens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61475" y="4255492"/>
            <a:ext cx="53678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Target reach at full scale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92851" y="3418095"/>
            <a:ext cx="4025998" cy="4678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83000"/>
              </a:lnSpc>
              <a:buNone/>
            </a:pPr>
            <a:r>
              <a:rPr lang="en-US" sz="36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10K</a:t>
            </a:r>
            <a:endParaRPr lang="en-US" sz="3650" dirty="0"/>
          </a:p>
        </p:txBody>
      </p:sp>
      <p:sp>
        <p:nvSpPr>
          <p:cNvPr id="15" name="Text 13"/>
          <p:cNvSpPr/>
          <p:nvPr/>
        </p:nvSpPr>
        <p:spPr>
          <a:xfrm>
            <a:off x="6162223" y="3970338"/>
            <a:ext cx="536799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350" dirty="0">
                <a:solidFill>
                  <a:srgbClr val="666666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Priority Projects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162223" y="4255492"/>
            <a:ext cx="5367997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7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Explainable recommendations generated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9381" y="4573488"/>
            <a:ext cx="5465626" cy="1691878"/>
          </a:xfrm>
          <a:prstGeom prst="roundRect">
            <a:avLst>
              <a:gd name="adj" fmla="val 12066"/>
            </a:avLst>
          </a:prstGeom>
          <a:solidFill>
            <a:schemeClr val="accent1">
              <a:lumMod val="75000"/>
              <a:alpha val="95000"/>
            </a:schemeClr>
          </a:solidFill>
          <a:ln/>
        </p:spPr>
      </p:sp>
      <p:sp>
        <p:nvSpPr>
          <p:cNvPr id="18" name="Text 16"/>
          <p:cNvSpPr/>
          <p:nvPr/>
        </p:nvSpPr>
        <p:spPr>
          <a:xfrm>
            <a:off x="1092867" y="4831160"/>
            <a:ext cx="518226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Year 1 — Pilot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979959" y="5236794"/>
            <a:ext cx="5182264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languages, 3 states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1M citizens, 500K feedback items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500 priority projects identified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75131" y="4679752"/>
            <a:ext cx="5261439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F6FF3"/>
                </a:solidFill>
                <a:latin typeface="Outfit Medium" pitchFamily="34" charset="0"/>
                <a:ea typeface="Outfit Medium" pitchFamily="34" charset="-122"/>
                <a:cs typeface="Outfit Medium" pitchFamily="34" charset="-120"/>
              </a:rPr>
              <a:t>Year 3 — National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275131" y="5007471"/>
            <a:ext cx="5261439" cy="669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 languages, 28 states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50M citizens, 50M feedback items</a:t>
            </a:r>
            <a:endParaRPr lang="en-US" sz="1100" dirty="0"/>
          </a:p>
          <a:p>
            <a:pPr marL="223520" indent="-223520" algn="l">
              <a:lnSpc>
                <a:spcPct val="117000"/>
              </a:lnSpc>
              <a:buSzPct val="100000"/>
              <a:buChar char="•"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10K priority projects with accountability trails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75131" y="5772845"/>
            <a:ext cx="52614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66666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Technical scaling: Kafka partitioning · GPU autoscaling · sharded PostgreSQL · horizontal API pods · regional deployments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</TotalTime>
  <Words>773</Words>
  <Application>Microsoft Office PowerPoint</Application>
  <PresentationFormat>Widescreen</PresentationFormat>
  <Paragraphs>139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IBM Plex Sans Bold</vt:lpstr>
      <vt:lpstr>Aptos</vt:lpstr>
      <vt:lpstr>IBM Plex Sans</vt:lpstr>
      <vt:lpstr>Wingdings</vt:lpstr>
      <vt:lpstr>Outfit Medium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Anshika Kumari</cp:lastModifiedBy>
  <cp:revision>2</cp:revision>
  <dcterms:created xsi:type="dcterms:W3CDTF">2026-09-28T18:29:38Z</dcterms:created>
  <dcterms:modified xsi:type="dcterms:W3CDTF">2026-09-28T20:07:56Z</dcterms:modified>
</cp:coreProperties>
</file>